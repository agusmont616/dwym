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embeddedFontLst>
    <p:embeddedFont>
      <p:font typeface="Roboto"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4BDE4C-D9EF-9D6F-1461-07E11BB29ADF}" v="1" dt="2024-08-05T00:27:53.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O LUJAMBIO" userId="S::rodrigo.lujambiot@ucu.edu.uy::81ff485e-97fc-4586-9e03-dd0dbe7cf538" providerId="AD" clId="Web-{484BDE4C-D9EF-9D6F-1461-07E11BB29ADF}"/>
    <pc:docChg chg="delSld">
      <pc:chgData name="RODRIGO LUJAMBIO" userId="S::rodrigo.lujambiot@ucu.edu.uy::81ff485e-97fc-4586-9e03-dd0dbe7cf538" providerId="AD" clId="Web-{484BDE4C-D9EF-9D6F-1461-07E11BB29ADF}" dt="2024-08-05T00:27:53.534" v="0"/>
      <pc:docMkLst>
        <pc:docMk/>
      </pc:docMkLst>
      <pc:sldChg chg="del">
        <pc:chgData name="RODRIGO LUJAMBIO" userId="S::rodrigo.lujambiot@ucu.edu.uy::81ff485e-97fc-4586-9e03-dd0dbe7cf538" providerId="AD" clId="Web-{484BDE4C-D9EF-9D6F-1461-07E11BB29ADF}" dt="2024-08-05T00:27:53.534" v="0"/>
        <pc:sldMkLst>
          <pc:docMk/>
          <pc:sldMk cId="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fdd940201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fdd940201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857b93ce5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857b93ce5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5f56c3b1e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5f56c3b1e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43309c6296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43309c629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estructura basica</a:t>
            </a:r>
            <a:endParaRPr/>
          </a:p>
          <a:p>
            <a:pPr marL="0" lvl="0" indent="0" algn="l" rtl="0">
              <a:spcBef>
                <a:spcPts val="1700"/>
              </a:spcBef>
              <a:spcAft>
                <a:spcPts val="0"/>
              </a:spcAft>
              <a:buClr>
                <a:schemeClr val="dk1"/>
              </a:buClr>
              <a:buSzPts val="1100"/>
              <a:buFont typeface="Arial"/>
              <a:buNone/>
            </a:pPr>
            <a:r>
              <a:rPr lang="en" sz="1650" b="1">
                <a:solidFill>
                  <a:srgbClr val="1D1D1B"/>
                </a:solidFill>
                <a:highlight>
                  <a:srgbClr val="FFFFFF"/>
                </a:highlight>
              </a:rPr>
              <a:t>1. HTML</a:t>
            </a:r>
            <a:endParaRPr sz="1650" b="1">
              <a:solidFill>
                <a:srgbClr val="1D1D1B"/>
              </a:solidFill>
              <a:highlight>
                <a:srgbClr val="FFFFFF"/>
              </a:highlight>
            </a:endParaRPr>
          </a:p>
          <a:p>
            <a:pPr marL="0" lvl="0" indent="0" algn="l" rtl="0">
              <a:lnSpc>
                <a:spcPct val="115000"/>
              </a:lnSpc>
              <a:spcBef>
                <a:spcPts val="1700"/>
              </a:spcBef>
              <a:spcAft>
                <a:spcPts val="0"/>
              </a:spcAft>
              <a:buClr>
                <a:schemeClr val="dk1"/>
              </a:buClr>
              <a:buSzPts val="1100"/>
              <a:buFont typeface="Arial"/>
              <a:buNone/>
            </a:pPr>
            <a:r>
              <a:rPr lang="en" sz="1350" i="1">
                <a:solidFill>
                  <a:srgbClr val="1D1D1B"/>
                </a:solidFill>
                <a:highlight>
                  <a:srgbClr val="FFFFFF"/>
                </a:highlight>
              </a:rPr>
              <a:t>&lt;html&gt;</a:t>
            </a:r>
            <a:r>
              <a:rPr lang="en" sz="1350">
                <a:solidFill>
                  <a:srgbClr val="1D1D1B"/>
                </a:solidFill>
                <a:highlight>
                  <a:srgbClr val="FFFFFF"/>
                </a:highlight>
              </a:rPr>
              <a:t> está al inicio de un documento HTML e indica a los navegadores que la página tiene código HTML para que pueda leerlo de esa forma. Siguiendo la sintaxis del lenguaje, la etiqueta de cierre</a:t>
            </a:r>
            <a:r>
              <a:rPr lang="en" sz="1350" i="1">
                <a:solidFill>
                  <a:srgbClr val="1D1D1B"/>
                </a:solidFill>
                <a:highlight>
                  <a:srgbClr val="FFFFFF"/>
                </a:highlight>
              </a:rPr>
              <a:t> &lt;/html&gt;</a:t>
            </a:r>
            <a:r>
              <a:rPr lang="en" sz="1350">
                <a:solidFill>
                  <a:srgbClr val="1D1D1B"/>
                </a:solidFill>
                <a:highlight>
                  <a:srgbClr val="FFFFFF"/>
                </a:highlight>
              </a:rPr>
              <a:t> será el último elemento del documento.</a:t>
            </a:r>
            <a:endParaRPr sz="1350">
              <a:solidFill>
                <a:srgbClr val="1D1D1B"/>
              </a:solidFill>
              <a:highlight>
                <a:srgbClr val="FFFFFF"/>
              </a:highlight>
            </a:endParaRPr>
          </a:p>
          <a:p>
            <a:pPr marL="0" lvl="0" indent="0" algn="l" rtl="0">
              <a:spcBef>
                <a:spcPts val="1700"/>
              </a:spcBef>
              <a:spcAft>
                <a:spcPts val="0"/>
              </a:spcAft>
              <a:buClr>
                <a:schemeClr val="dk1"/>
              </a:buClr>
              <a:buSzPts val="1100"/>
              <a:buFont typeface="Arial"/>
              <a:buNone/>
            </a:pPr>
            <a:r>
              <a:rPr lang="en" sz="1650" b="1">
                <a:solidFill>
                  <a:srgbClr val="1D1D1B"/>
                </a:solidFill>
                <a:highlight>
                  <a:srgbClr val="FFFFFF"/>
                </a:highlight>
              </a:rPr>
              <a:t>2. Encabezado</a:t>
            </a:r>
            <a:endParaRPr sz="1650" b="1">
              <a:solidFill>
                <a:srgbClr val="1D1D1B"/>
              </a:solidFill>
              <a:highlight>
                <a:srgbClr val="FFFFFF"/>
              </a:highlight>
            </a:endParaRPr>
          </a:p>
          <a:p>
            <a:pPr marL="0" lvl="0" indent="0" algn="l" rtl="0">
              <a:lnSpc>
                <a:spcPct val="115000"/>
              </a:lnSpc>
              <a:spcBef>
                <a:spcPts val="1700"/>
              </a:spcBef>
              <a:spcAft>
                <a:spcPts val="0"/>
              </a:spcAft>
              <a:buClr>
                <a:schemeClr val="dk1"/>
              </a:buClr>
              <a:buSzPts val="1100"/>
              <a:buFont typeface="Arial"/>
              <a:buNone/>
            </a:pPr>
            <a:r>
              <a:rPr lang="en" sz="1350" i="1">
                <a:solidFill>
                  <a:srgbClr val="1D1D1B"/>
                </a:solidFill>
                <a:highlight>
                  <a:srgbClr val="FFFFFF"/>
                </a:highlight>
              </a:rPr>
              <a:t>&lt;head&gt;</a:t>
            </a:r>
            <a:r>
              <a:rPr lang="en" sz="1350">
                <a:solidFill>
                  <a:srgbClr val="1D1D1B"/>
                </a:solidFill>
                <a:highlight>
                  <a:srgbClr val="FFFFFF"/>
                </a:highlight>
              </a:rPr>
              <a:t> es la etiqueta que se utiliza para el encabezado de la página. Su principal función es contener toda la información del funcionamiento del sitio. Debido a esto, es un código encriptado que las personas que entran a la página </a:t>
            </a:r>
            <a:r>
              <a:rPr lang="en" sz="1350" b="1">
                <a:solidFill>
                  <a:srgbClr val="1D1D1B"/>
                </a:solidFill>
                <a:highlight>
                  <a:srgbClr val="FFFFFF"/>
                </a:highlight>
              </a:rPr>
              <a:t>no pueden ver</a:t>
            </a:r>
            <a:r>
              <a:rPr lang="en" sz="1350">
                <a:solidFill>
                  <a:srgbClr val="1D1D1B"/>
                </a:solidFill>
                <a:highlight>
                  <a:srgbClr val="FFFFFF"/>
                </a:highlight>
              </a:rPr>
              <a:t>. Muestra metadata del documento, </a:t>
            </a:r>
            <a:endParaRPr sz="1350">
              <a:solidFill>
                <a:srgbClr val="1D1D1B"/>
              </a:solidFill>
              <a:highlight>
                <a:srgbClr val="FFFFFF"/>
              </a:highlight>
            </a:endParaRPr>
          </a:p>
          <a:p>
            <a:pPr marL="0" lvl="0" indent="0" algn="l" rtl="0">
              <a:spcBef>
                <a:spcPts val="1700"/>
              </a:spcBef>
              <a:spcAft>
                <a:spcPts val="0"/>
              </a:spcAft>
              <a:buClr>
                <a:schemeClr val="dk1"/>
              </a:buClr>
              <a:buSzPts val="1100"/>
              <a:buFont typeface="Arial"/>
              <a:buNone/>
            </a:pPr>
            <a:r>
              <a:rPr lang="en" sz="1650" b="1">
                <a:solidFill>
                  <a:srgbClr val="1D1D1B"/>
                </a:solidFill>
                <a:highlight>
                  <a:srgbClr val="FFFFFF"/>
                </a:highlight>
              </a:rPr>
              <a:t>3. Título de la página</a:t>
            </a:r>
            <a:endParaRPr sz="1650" b="1">
              <a:solidFill>
                <a:srgbClr val="1D1D1B"/>
              </a:solidFill>
              <a:highlight>
                <a:srgbClr val="FFFFFF"/>
              </a:highlight>
            </a:endParaRPr>
          </a:p>
          <a:p>
            <a:pPr marL="0" lvl="0" indent="0" algn="l" rtl="0">
              <a:lnSpc>
                <a:spcPct val="115000"/>
              </a:lnSpc>
              <a:spcBef>
                <a:spcPts val="1700"/>
              </a:spcBef>
              <a:spcAft>
                <a:spcPts val="0"/>
              </a:spcAft>
              <a:buClr>
                <a:schemeClr val="dk1"/>
              </a:buClr>
              <a:buSzPts val="1100"/>
              <a:buFont typeface="Arial"/>
              <a:buNone/>
            </a:pPr>
            <a:r>
              <a:rPr lang="en" sz="1350" i="1">
                <a:solidFill>
                  <a:srgbClr val="1D1D1B"/>
                </a:solidFill>
                <a:highlight>
                  <a:srgbClr val="FFFFFF"/>
                </a:highlight>
              </a:rPr>
              <a:t>&lt;title&gt;</a:t>
            </a:r>
            <a:r>
              <a:rPr lang="en" sz="1350">
                <a:solidFill>
                  <a:srgbClr val="1D1D1B"/>
                </a:solidFill>
                <a:highlight>
                  <a:srgbClr val="FFFFFF"/>
                </a:highlight>
              </a:rPr>
              <a:t> es la etiqueta que da a tu sitio un nombre para que los usuarios puedan identificarlo. Es el título que puedes ver en las pestañas del navegador.</a:t>
            </a:r>
            <a:endParaRPr sz="1350">
              <a:solidFill>
                <a:srgbClr val="1D1D1B"/>
              </a:solidFill>
              <a:highlight>
                <a:srgbClr val="FFFFFF"/>
              </a:highlight>
            </a:endParaRPr>
          </a:p>
          <a:p>
            <a:pPr marL="0" lvl="0" indent="0" algn="l" rtl="0">
              <a:spcBef>
                <a:spcPts val="1700"/>
              </a:spcBef>
              <a:spcAft>
                <a:spcPts val="0"/>
              </a:spcAft>
              <a:buClr>
                <a:schemeClr val="dk1"/>
              </a:buClr>
              <a:buSzPts val="1100"/>
              <a:buFont typeface="Arial"/>
              <a:buNone/>
            </a:pPr>
            <a:r>
              <a:rPr lang="en" sz="1650" b="1">
                <a:solidFill>
                  <a:srgbClr val="1D1D1B"/>
                </a:solidFill>
                <a:highlight>
                  <a:srgbClr val="FFFFFF"/>
                </a:highlight>
              </a:rPr>
              <a:t>4. Cuerpo</a:t>
            </a:r>
            <a:endParaRPr sz="1650" b="1">
              <a:solidFill>
                <a:srgbClr val="1D1D1B"/>
              </a:solidFill>
              <a:highlight>
                <a:srgbClr val="FFFFFF"/>
              </a:highlight>
            </a:endParaRPr>
          </a:p>
          <a:p>
            <a:pPr marL="0" lvl="0" indent="0" algn="l" rtl="0">
              <a:lnSpc>
                <a:spcPct val="115000"/>
              </a:lnSpc>
              <a:spcBef>
                <a:spcPts val="1700"/>
              </a:spcBef>
              <a:spcAft>
                <a:spcPts val="0"/>
              </a:spcAft>
              <a:buClr>
                <a:schemeClr val="dk1"/>
              </a:buClr>
              <a:buSzPts val="1100"/>
              <a:buFont typeface="Arial"/>
              <a:buNone/>
            </a:pPr>
            <a:r>
              <a:rPr lang="en" sz="1350" i="1">
                <a:solidFill>
                  <a:srgbClr val="1D1D1B"/>
                </a:solidFill>
                <a:highlight>
                  <a:srgbClr val="FFFFFF"/>
                </a:highlight>
              </a:rPr>
              <a:t>&lt;body&gt;</a:t>
            </a:r>
            <a:r>
              <a:rPr lang="en" sz="1350">
                <a:solidFill>
                  <a:srgbClr val="1D1D1B"/>
                </a:solidFill>
                <a:highlight>
                  <a:srgbClr val="FFFFFF"/>
                </a:highlight>
              </a:rPr>
              <a:t> es la etiqueta que contiene todos los elementos individuales del sitio. O dicho de otra forma, comprende todo el </a:t>
            </a:r>
            <a:r>
              <a:rPr lang="en" sz="1350" b="1">
                <a:solidFill>
                  <a:srgbClr val="1D1D1B"/>
                </a:solidFill>
                <a:highlight>
                  <a:srgbClr val="FFFFFF"/>
                </a:highlight>
              </a:rPr>
              <a:t>contenido visible del sitio</a:t>
            </a:r>
            <a:r>
              <a:rPr lang="en" sz="1350">
                <a:solidFill>
                  <a:srgbClr val="1D1D1B"/>
                </a:solidFill>
                <a:highlight>
                  <a:srgbClr val="FFFFFF"/>
                </a:highlight>
              </a:rPr>
              <a:t>. Aquí podrás insertar texto, imágenes, videos o cualquier otra funcionalidad que desees mostrar.</a:t>
            </a:r>
            <a:endParaRPr sz="1350">
              <a:solidFill>
                <a:srgbClr val="1D1D1B"/>
              </a:solidFill>
              <a:highlight>
                <a:srgbClr val="FFFFFF"/>
              </a:highlight>
            </a:endParaRPr>
          </a:p>
          <a:p>
            <a:pPr marL="0" lvl="0" indent="0" algn="l" rtl="0">
              <a:spcBef>
                <a:spcPts val="14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5f56c3b1e9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5f56c3b1e9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5f56c3b1e9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25f56c3b1e9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5f56c3b1e9_1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5f56c3b1e9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b857b93ce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b857b93ce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Componentes, declarativo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857b93ce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857b93ce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tags, lista de tags introductirios</a:t>
            </a: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b857b93ce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b857b93c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estructura basica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5f8bce9ff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5f8bce9f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HTML estructura basica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hyperlink" Target="https://developer.mozilla.org/en-US/docs/Web/HTML/Element" TargetMode="Externa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19178" b="5847"/>
          <a:stretch/>
        </p:blipFill>
        <p:spPr>
          <a:xfrm>
            <a:off x="0" y="0"/>
            <a:ext cx="9144000" cy="5143500"/>
          </a:xfrm>
          <a:prstGeom prst="rect">
            <a:avLst/>
          </a:prstGeom>
          <a:noFill/>
          <a:ln>
            <a:noFill/>
          </a:ln>
        </p:spPr>
      </p:pic>
      <p:sp>
        <p:nvSpPr>
          <p:cNvPr id="55" name="Google Shape;55;p13"/>
          <p:cNvSpPr txBox="1">
            <a:spLocks noGrp="1"/>
          </p:cNvSpPr>
          <p:nvPr>
            <p:ph type="ctrTitle" idx="4294967295"/>
          </p:nvPr>
        </p:nvSpPr>
        <p:spPr>
          <a:xfrm>
            <a:off x="484950" y="2719500"/>
            <a:ext cx="8174100" cy="698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latin typeface="Roboto"/>
                <a:ea typeface="Roboto"/>
                <a:cs typeface="Roboto"/>
                <a:sym typeface="Roboto"/>
              </a:rPr>
              <a:t>Programación Web y Mobile</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195975"/>
            <a:ext cx="8520600" cy="636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500"/>
              <a:t>HTML, CSS, JS</a:t>
            </a:r>
            <a:endParaRPr sz="2500"/>
          </a:p>
        </p:txBody>
      </p:sp>
      <p:sp>
        <p:nvSpPr>
          <p:cNvPr id="61" name="Google Shape;61;p14"/>
          <p:cNvSpPr txBox="1">
            <a:spLocks noGrp="1"/>
          </p:cNvSpPr>
          <p:nvPr>
            <p:ph type="body" idx="1"/>
          </p:nvPr>
        </p:nvSpPr>
        <p:spPr>
          <a:xfrm>
            <a:off x="255250" y="1134350"/>
            <a:ext cx="8520600" cy="13008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Clr>
                <a:schemeClr val="dk1"/>
              </a:buClr>
              <a:buSzPts val="1800"/>
              <a:buChar char="●"/>
            </a:pPr>
            <a:r>
              <a:rPr lang="en">
                <a:solidFill>
                  <a:schemeClr val="dk1"/>
                </a:solidFill>
              </a:rPr>
              <a:t>Una aplicación web está compuesta básicamente por estos tres tipos de archivos.</a:t>
            </a:r>
            <a:endParaRPr>
              <a:solidFill>
                <a:schemeClr val="dk1"/>
              </a:solidFill>
            </a:endParaRPr>
          </a:p>
          <a:p>
            <a:pPr marL="457200" lvl="0" indent="-342900" algn="l" rtl="0">
              <a:spcBef>
                <a:spcPts val="0"/>
              </a:spcBef>
              <a:spcAft>
                <a:spcPts val="0"/>
              </a:spcAft>
              <a:buClr>
                <a:schemeClr val="dk1"/>
              </a:buClr>
              <a:buSzPts val="1800"/>
              <a:buChar char="●"/>
            </a:pPr>
            <a:r>
              <a:rPr lang="en">
                <a:solidFill>
                  <a:schemeClr val="dk1"/>
                </a:solidFill>
              </a:rPr>
              <a:t>El browser es capaz de interpretar estos tipos de archivos, y </a:t>
            </a:r>
            <a:r>
              <a:rPr lang="en" b="1">
                <a:solidFill>
                  <a:schemeClr val="dk1"/>
                </a:solidFill>
              </a:rPr>
              <a:t>sólamente</a:t>
            </a:r>
            <a:r>
              <a:rPr lang="en">
                <a:solidFill>
                  <a:schemeClr val="dk1"/>
                </a:solidFill>
              </a:rPr>
              <a:t> este tipo de archivos</a:t>
            </a:r>
            <a:endParaRPr>
              <a:solidFill>
                <a:schemeClr val="dk1"/>
              </a:solidFill>
            </a:endParaRPr>
          </a:p>
        </p:txBody>
      </p:sp>
      <p:pic>
        <p:nvPicPr>
          <p:cNvPr id="62" name="Google Shape;62;p14"/>
          <p:cNvPicPr preferRelativeResize="0"/>
          <p:nvPr/>
        </p:nvPicPr>
        <p:blipFill>
          <a:blip r:embed="rId3">
            <a:alphaModFix/>
          </a:blip>
          <a:stretch>
            <a:fillRect/>
          </a:stretch>
        </p:blipFill>
        <p:spPr>
          <a:xfrm>
            <a:off x="3480700" y="2620100"/>
            <a:ext cx="1783950" cy="1427150"/>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68" name="Google Shape;68;p15"/>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0"/>
              </a:spcAft>
              <a:buNone/>
            </a:pP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1200"/>
              </a:spcAft>
              <a:buNone/>
            </a:pPr>
            <a:endParaRPr sz="1230" b="1">
              <a:solidFill>
                <a:srgbClr val="052E65"/>
              </a:solidFill>
              <a:latin typeface="Roboto"/>
              <a:ea typeface="Roboto"/>
              <a:cs typeface="Roboto"/>
              <a:sym typeface="Roboto"/>
            </a:endParaRPr>
          </a:p>
        </p:txBody>
      </p:sp>
      <p:pic>
        <p:nvPicPr>
          <p:cNvPr id="69" name="Google Shape;69;p15"/>
          <p:cNvPicPr preferRelativeResize="0"/>
          <p:nvPr/>
        </p:nvPicPr>
        <p:blipFill>
          <a:blip r:embed="rId4">
            <a:alphaModFix/>
          </a:blip>
          <a:stretch>
            <a:fillRect/>
          </a:stretch>
        </p:blipFill>
        <p:spPr>
          <a:xfrm>
            <a:off x="6591475" y="3863450"/>
            <a:ext cx="1114100" cy="1114100"/>
          </a:xfrm>
          <a:prstGeom prst="rect">
            <a:avLst/>
          </a:prstGeom>
          <a:noFill/>
          <a:ln>
            <a:noFill/>
          </a:ln>
        </p:spPr>
      </p:pic>
      <p:sp>
        <p:nvSpPr>
          <p:cNvPr id="70" name="Google Shape;70;p15"/>
          <p:cNvSpPr txBox="1">
            <a:spLocks noGrp="1"/>
          </p:cNvSpPr>
          <p:nvPr>
            <p:ph type="title" idx="4294967295"/>
          </p:nvPr>
        </p:nvSpPr>
        <p:spPr>
          <a:xfrm>
            <a:off x="529500" y="3093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Roboto"/>
                <a:ea typeface="Roboto"/>
                <a:cs typeface="Roboto"/>
                <a:sym typeface="Roboto"/>
              </a:rPr>
              <a:t>HTML</a:t>
            </a: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457200" lvl="0" indent="-318452" algn="l" rtl="0">
              <a:spcBef>
                <a:spcPts val="0"/>
              </a:spcBef>
              <a:spcAft>
                <a:spcPts val="0"/>
              </a:spcAft>
              <a:buClr>
                <a:srgbClr val="1D1D1B"/>
              </a:buClr>
              <a:buSzPct val="100000"/>
              <a:buChar char="●"/>
            </a:pPr>
            <a:r>
              <a:rPr lang="en" sz="1572">
                <a:solidFill>
                  <a:srgbClr val="1D1D1B"/>
                </a:solidFill>
                <a:highlight>
                  <a:srgbClr val="FFFFFF"/>
                </a:highlight>
              </a:rPr>
              <a:t>Hyper Text Markup Language o Lenguaje Marcado de Hipertexto</a:t>
            </a:r>
            <a:endParaRPr sz="1572">
              <a:solidFill>
                <a:srgbClr val="1D1D1B"/>
              </a:solidFill>
              <a:highlight>
                <a:srgbClr val="FFFFFF"/>
              </a:highlight>
            </a:endParaRPr>
          </a:p>
          <a:p>
            <a:pPr marL="457200" lvl="0" indent="0" algn="l" rtl="0">
              <a:spcBef>
                <a:spcPts val="0"/>
              </a:spcBef>
              <a:spcAft>
                <a:spcPts val="0"/>
              </a:spcAft>
              <a:buNone/>
            </a:pPr>
            <a:endParaRPr sz="1572">
              <a:solidFill>
                <a:srgbClr val="1D1D1B"/>
              </a:solidFill>
              <a:highlight>
                <a:srgbClr val="FFFFFF"/>
              </a:highlight>
            </a:endParaRPr>
          </a:p>
          <a:p>
            <a:pPr marL="457200" lvl="0" indent="-318452" algn="l" rtl="0">
              <a:spcBef>
                <a:spcPts val="0"/>
              </a:spcBef>
              <a:spcAft>
                <a:spcPts val="0"/>
              </a:spcAft>
              <a:buClr>
                <a:srgbClr val="1D1D1B"/>
              </a:buClr>
              <a:buSzPct val="100000"/>
              <a:buChar char="●"/>
            </a:pPr>
            <a:r>
              <a:rPr lang="en" sz="1572">
                <a:solidFill>
                  <a:srgbClr val="1D1D1B"/>
                </a:solidFill>
                <a:highlight>
                  <a:srgbClr val="FFFFFF"/>
                </a:highlight>
              </a:rPr>
              <a:t>Define la estructura de una página web, de forma jerárquica y le da significado</a:t>
            </a:r>
            <a:endParaRPr sz="1572">
              <a:solidFill>
                <a:srgbClr val="1D1D1B"/>
              </a:solidFill>
              <a:highlight>
                <a:srgbClr val="FFFFFF"/>
              </a:highlight>
            </a:endParaRPr>
          </a:p>
          <a:p>
            <a:pPr marL="457200" lvl="0" indent="0" algn="l" rtl="0">
              <a:spcBef>
                <a:spcPts val="0"/>
              </a:spcBef>
              <a:spcAft>
                <a:spcPts val="0"/>
              </a:spcAft>
              <a:buNone/>
            </a:pPr>
            <a:endParaRPr sz="1572">
              <a:solidFill>
                <a:srgbClr val="1D1D1B"/>
              </a:solidFill>
              <a:highlight>
                <a:srgbClr val="FFFFFF"/>
              </a:highlight>
            </a:endParaRPr>
          </a:p>
          <a:p>
            <a:pPr marL="457200" lvl="0" indent="-318452" algn="l" rtl="0">
              <a:spcBef>
                <a:spcPts val="0"/>
              </a:spcBef>
              <a:spcAft>
                <a:spcPts val="0"/>
              </a:spcAft>
              <a:buClr>
                <a:srgbClr val="1D1D1B"/>
              </a:buClr>
              <a:buSzPct val="100000"/>
              <a:buChar char="●"/>
            </a:pPr>
            <a:r>
              <a:rPr lang="en" sz="1572">
                <a:solidFill>
                  <a:srgbClr val="1D1D1B"/>
                </a:solidFill>
                <a:highlight>
                  <a:srgbClr val="FFFFFF"/>
                </a:highlight>
              </a:rPr>
              <a:t>Se utiliza un lenguaje de maquetado (“markup”) para describir la estructura</a:t>
            </a:r>
            <a:endParaRPr sz="1572">
              <a:solidFill>
                <a:srgbClr val="1D1D1B"/>
              </a:solidFill>
              <a:highlight>
                <a:srgbClr val="FFFFFF"/>
              </a:highlight>
            </a:endParaRPr>
          </a:p>
          <a:p>
            <a:pPr marL="457200" lvl="0" indent="0" algn="l" rtl="0">
              <a:spcBef>
                <a:spcPts val="0"/>
              </a:spcBef>
              <a:spcAft>
                <a:spcPts val="0"/>
              </a:spcAft>
              <a:buNone/>
            </a:pPr>
            <a:endParaRPr sz="1572">
              <a:solidFill>
                <a:srgbClr val="1D1D1B"/>
              </a:solidFill>
              <a:highlight>
                <a:srgbClr val="FFFFFF"/>
              </a:highlight>
            </a:endParaRPr>
          </a:p>
          <a:p>
            <a:pPr marL="457200" lvl="0" indent="-318452" algn="l" rtl="0">
              <a:spcBef>
                <a:spcPts val="0"/>
              </a:spcBef>
              <a:spcAft>
                <a:spcPts val="0"/>
              </a:spcAft>
              <a:buClr>
                <a:srgbClr val="1D1D1B"/>
              </a:buClr>
              <a:buSzPct val="100000"/>
              <a:buChar char="●"/>
            </a:pPr>
            <a:r>
              <a:rPr lang="en" sz="1572">
                <a:solidFill>
                  <a:srgbClr val="1D1D1B"/>
                </a:solidFill>
                <a:highlight>
                  <a:srgbClr val="FFFFFF"/>
                </a:highlight>
              </a:rPr>
              <a:t>Para esto, se utilizan “tags”, que empiezan con “&lt;”, terminan con “&gt;”, y en el medio encontramos</a:t>
            </a:r>
            <a:endParaRPr sz="1572">
              <a:solidFill>
                <a:srgbClr val="1D1D1B"/>
              </a:solidFill>
              <a:highlight>
                <a:srgbClr val="FFFFFF"/>
              </a:highlight>
            </a:endParaRPr>
          </a:p>
          <a:p>
            <a:pPr marL="457200" lvl="0" indent="0" algn="l" rtl="0">
              <a:spcBef>
                <a:spcPts val="0"/>
              </a:spcBef>
              <a:spcAft>
                <a:spcPts val="0"/>
              </a:spcAft>
              <a:buNone/>
            </a:pPr>
            <a:r>
              <a:rPr lang="en" sz="1572">
                <a:solidFill>
                  <a:srgbClr val="1D1D1B"/>
                </a:solidFill>
                <a:highlight>
                  <a:srgbClr val="FFFFFF"/>
                </a:highlight>
              </a:rPr>
              <a:t>el nombre del tag junto con sus atributos</a:t>
            </a:r>
            <a:endParaRPr sz="1572">
              <a:solidFill>
                <a:srgbClr val="1D1D1B"/>
              </a:solidFill>
              <a:highlight>
                <a:srgbClr val="FFFFFF"/>
              </a:highlight>
            </a:endParaRPr>
          </a:p>
          <a:p>
            <a:pPr marL="0" lvl="0" indent="0" algn="l" rtl="0">
              <a:spcBef>
                <a:spcPts val="0"/>
              </a:spcBef>
              <a:spcAft>
                <a:spcPts val="0"/>
              </a:spcAft>
              <a:buNone/>
            </a:pPr>
            <a:endParaRPr sz="1572">
              <a:solidFill>
                <a:srgbClr val="1D1D1B"/>
              </a:solidFill>
              <a:highlight>
                <a:srgbClr val="FFFFFF"/>
              </a:highlight>
            </a:endParaRPr>
          </a:p>
          <a:p>
            <a:pPr marL="457200" lvl="0" indent="-318452" algn="l" rtl="0">
              <a:spcBef>
                <a:spcPts val="0"/>
              </a:spcBef>
              <a:spcAft>
                <a:spcPts val="0"/>
              </a:spcAft>
              <a:buClr>
                <a:srgbClr val="1D1D1B"/>
              </a:buClr>
              <a:buSzPct val="100000"/>
              <a:buChar char="●"/>
            </a:pPr>
            <a:r>
              <a:rPr lang="en" sz="1572">
                <a:solidFill>
                  <a:srgbClr val="1D1D1B"/>
                </a:solidFill>
                <a:highlight>
                  <a:srgbClr val="FFFFFF"/>
                </a:highlight>
              </a:rPr>
              <a:t>HTML no distingue mayúsculas de minúsculas, pero las buenas prácticas es utilizar minúsculas</a:t>
            </a:r>
            <a:endParaRPr sz="1572">
              <a:solidFill>
                <a:srgbClr val="1D1D1B"/>
              </a:solidFill>
              <a:highlight>
                <a:srgbClr val="FFFFFF"/>
              </a:highlight>
            </a:endParaRPr>
          </a:p>
          <a:p>
            <a:pPr marL="457200" lvl="0" indent="0" algn="l" rtl="0">
              <a:spcBef>
                <a:spcPts val="0"/>
              </a:spcBef>
              <a:spcAft>
                <a:spcPts val="0"/>
              </a:spcAft>
              <a:buNone/>
            </a:pPr>
            <a:endParaRPr sz="1572">
              <a:solidFill>
                <a:srgbClr val="1D1D1B"/>
              </a:solidFill>
              <a:highlight>
                <a:srgbClr val="FFFFFF"/>
              </a:highlight>
            </a:endParaRPr>
          </a:p>
          <a:p>
            <a:pPr marL="457200" lvl="0" indent="-318452" algn="l" rtl="0">
              <a:spcBef>
                <a:spcPts val="0"/>
              </a:spcBef>
              <a:spcAft>
                <a:spcPts val="0"/>
              </a:spcAft>
              <a:buClr>
                <a:srgbClr val="1D1D1B"/>
              </a:buClr>
              <a:buSzPct val="100000"/>
              <a:buChar char="●"/>
            </a:pPr>
            <a:r>
              <a:rPr lang="en" sz="1572" b="1">
                <a:solidFill>
                  <a:srgbClr val="1D1D1B"/>
                </a:solidFill>
                <a:highlight>
                  <a:srgbClr val="FFFFFF"/>
                </a:highlight>
              </a:rPr>
              <a:t>¡No es un lenguaje de programación!</a:t>
            </a:r>
            <a:r>
              <a:rPr lang="en" sz="1572">
                <a:solidFill>
                  <a:srgbClr val="1D1D1B"/>
                </a:solidFill>
                <a:highlight>
                  <a:srgbClr val="FFFFFF"/>
                </a:highlight>
              </a:rPr>
              <a:t> </a:t>
            </a:r>
            <a:endParaRPr sz="1572">
              <a:solidFill>
                <a:srgbClr val="1D1D1B"/>
              </a:solidFill>
              <a:highlight>
                <a:srgbClr val="FFFFFF"/>
              </a:highlight>
            </a:endParaRPr>
          </a:p>
          <a:p>
            <a:pPr marL="0" lvl="0" indent="0" algn="l" rtl="0">
              <a:spcBef>
                <a:spcPts val="0"/>
              </a:spcBef>
              <a:spcAft>
                <a:spcPts val="0"/>
              </a:spcAft>
              <a:buNone/>
            </a:pPr>
            <a:endParaRPr sz="1350">
              <a:solidFill>
                <a:srgbClr val="1D1D1B"/>
              </a:solidFill>
              <a:highlight>
                <a:srgbClr val="FFFFFF"/>
              </a:highlight>
            </a:endParaRPr>
          </a:p>
          <a:p>
            <a:pPr marL="0" lvl="0" indent="0" algn="l" rtl="0">
              <a:spcBef>
                <a:spcPts val="0"/>
              </a:spcBef>
              <a:spcAft>
                <a:spcPts val="0"/>
              </a:spcAft>
              <a:buNone/>
            </a:pPr>
            <a:endParaRPr sz="1350">
              <a:solidFill>
                <a:srgbClr val="1D1D1B"/>
              </a:solidFill>
              <a:highlight>
                <a:srgbClr val="FFFFFF"/>
              </a:highlight>
            </a:endParaRPr>
          </a:p>
          <a:p>
            <a:pPr marL="0" lvl="0" indent="0" algn="l" rtl="0">
              <a:spcBef>
                <a:spcPts val="0"/>
              </a:spcBef>
              <a:spcAft>
                <a:spcPts val="0"/>
              </a:spcAft>
              <a:buNone/>
            </a:pPr>
            <a:endParaRPr sz="1350" b="1">
              <a:solidFill>
                <a:srgbClr val="1D1D1B"/>
              </a:solidFill>
              <a:highlight>
                <a:srgbClr val="FFFFFF"/>
              </a:highlight>
            </a:endParaRPr>
          </a:p>
          <a:p>
            <a:pPr marL="0" lvl="0" indent="0" algn="l" rtl="0">
              <a:spcBef>
                <a:spcPts val="0"/>
              </a:spcBef>
              <a:spcAft>
                <a:spcPts val="0"/>
              </a:spcAft>
              <a:buNone/>
            </a:pPr>
            <a:endParaRPr sz="1350" b="1">
              <a:solidFill>
                <a:srgbClr val="1D1D1B"/>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ctrTitle"/>
          </p:nvPr>
        </p:nvSpPr>
        <p:spPr>
          <a:xfrm>
            <a:off x="311700" y="744575"/>
            <a:ext cx="8520600" cy="1343100"/>
          </a:xfrm>
          <a:prstGeom prst="rect">
            <a:avLst/>
          </a:prstGeom>
        </p:spPr>
        <p:txBody>
          <a:bodyPr spcFirstLastPara="1" wrap="square" lIns="91425" tIns="91425" rIns="91425" bIns="91425" anchor="b" anchorCtr="0">
            <a:normAutofit fontScale="90000"/>
          </a:bodyPr>
          <a:lstStyle/>
          <a:p>
            <a:pPr marL="0" lvl="0" indent="0" algn="l" rtl="0">
              <a:lnSpc>
                <a:spcPct val="125000"/>
              </a:lnSpc>
              <a:spcBef>
                <a:spcPts val="2700"/>
              </a:spcBef>
              <a:spcAft>
                <a:spcPts val="0"/>
              </a:spcAft>
              <a:buClr>
                <a:schemeClr val="dk1"/>
              </a:buClr>
              <a:buSzPct val="39285"/>
              <a:buFont typeface="Arial"/>
              <a:buNone/>
            </a:pPr>
            <a:r>
              <a:rPr lang="en" sz="2800">
                <a:latin typeface="Roboto"/>
                <a:ea typeface="Roboto"/>
                <a:cs typeface="Roboto"/>
                <a:sym typeface="Roboto"/>
              </a:rPr>
              <a:t>Estructura básica HTML</a:t>
            </a:r>
            <a:endParaRPr sz="2650" b="1">
              <a:solidFill>
                <a:srgbClr val="1D1D1B"/>
              </a:solidFill>
              <a:highlight>
                <a:srgbClr val="FFFFFF"/>
              </a:highlight>
            </a:endParaRPr>
          </a:p>
          <a:p>
            <a:pPr marL="0" lvl="0" indent="0" algn="ctr" rtl="0">
              <a:spcBef>
                <a:spcPts val="2100"/>
              </a:spcBef>
              <a:spcAft>
                <a:spcPts val="0"/>
              </a:spcAft>
              <a:buNone/>
            </a:pPr>
            <a:endParaRPr/>
          </a:p>
        </p:txBody>
      </p:sp>
      <p:sp>
        <p:nvSpPr>
          <p:cNvPr id="76" name="Google Shape;76;p16"/>
          <p:cNvSpPr txBox="1"/>
          <p:nvPr/>
        </p:nvSpPr>
        <p:spPr>
          <a:xfrm>
            <a:off x="615875" y="1730125"/>
            <a:ext cx="5467800" cy="1612200"/>
          </a:xfrm>
          <a:prstGeom prst="rect">
            <a:avLst/>
          </a:prstGeom>
          <a:noFill/>
          <a:ln>
            <a:noFill/>
          </a:ln>
        </p:spPr>
        <p:txBody>
          <a:bodyPr spcFirstLastPara="1" wrap="square" lIns="91425" tIns="91425" rIns="91425" bIns="91425" anchor="t" anchorCtr="0">
            <a:spAutoFit/>
          </a:bodyPr>
          <a:lstStyle/>
          <a:p>
            <a:pPr marL="457200" lvl="0" indent="-396875" algn="l" rtl="0">
              <a:lnSpc>
                <a:spcPct val="125000"/>
              </a:lnSpc>
              <a:spcBef>
                <a:spcPts val="2700"/>
              </a:spcBef>
              <a:spcAft>
                <a:spcPts val="0"/>
              </a:spcAft>
              <a:buClr>
                <a:srgbClr val="1D1D1B"/>
              </a:buClr>
              <a:buSzPts val="2650"/>
              <a:buChar char="●"/>
            </a:pPr>
            <a:r>
              <a:rPr lang="en" sz="1800">
                <a:solidFill>
                  <a:schemeClr val="dk1"/>
                </a:solidFill>
              </a:rPr>
              <a:t>Etiqueta HTML &lt;html&gt;</a:t>
            </a:r>
            <a:endParaRPr sz="1800">
              <a:solidFill>
                <a:schemeClr val="dk1"/>
              </a:solidFill>
            </a:endParaRPr>
          </a:p>
          <a:p>
            <a:pPr marL="457200" lvl="0" indent="-396875" algn="l" rtl="0">
              <a:lnSpc>
                <a:spcPct val="125000"/>
              </a:lnSpc>
              <a:spcBef>
                <a:spcPts val="0"/>
              </a:spcBef>
              <a:spcAft>
                <a:spcPts val="0"/>
              </a:spcAft>
              <a:buClr>
                <a:srgbClr val="1D1D1B"/>
              </a:buClr>
              <a:buSzPts val="2650"/>
              <a:buChar char="●"/>
            </a:pPr>
            <a:r>
              <a:rPr lang="en" sz="1800">
                <a:solidFill>
                  <a:schemeClr val="dk1"/>
                </a:solidFill>
              </a:rPr>
              <a:t>Encabezado &lt;head&gt;</a:t>
            </a:r>
            <a:endParaRPr sz="1800">
              <a:solidFill>
                <a:schemeClr val="dk1"/>
              </a:solidFill>
            </a:endParaRPr>
          </a:p>
          <a:p>
            <a:pPr marL="457200" lvl="0" indent="-396875" algn="l" rtl="0">
              <a:lnSpc>
                <a:spcPct val="125000"/>
              </a:lnSpc>
              <a:spcBef>
                <a:spcPts val="0"/>
              </a:spcBef>
              <a:spcAft>
                <a:spcPts val="0"/>
              </a:spcAft>
              <a:buClr>
                <a:srgbClr val="1D1D1B"/>
              </a:buClr>
              <a:buSzPts val="2650"/>
              <a:buChar char="●"/>
            </a:pPr>
            <a:r>
              <a:rPr lang="en" sz="1800">
                <a:solidFill>
                  <a:schemeClr val="dk1"/>
                </a:solidFill>
              </a:rPr>
              <a:t>Cuerpo &lt;body&gt;</a:t>
            </a:r>
            <a:endParaRPr sz="2650">
              <a:solidFill>
                <a:srgbClr val="1D1D1B"/>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7"/>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82" name="Google Shape;82;p17"/>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1200"/>
              </a:spcAft>
              <a:buNone/>
            </a:pPr>
            <a:endParaRPr sz="1230" b="1">
              <a:solidFill>
                <a:srgbClr val="052E65"/>
              </a:solidFill>
              <a:latin typeface="Roboto"/>
              <a:ea typeface="Roboto"/>
              <a:cs typeface="Roboto"/>
              <a:sym typeface="Roboto"/>
            </a:endParaRPr>
          </a:p>
        </p:txBody>
      </p:sp>
      <p:sp>
        <p:nvSpPr>
          <p:cNvPr id="83" name="Google Shape;83;p17"/>
          <p:cNvSpPr txBox="1">
            <a:spLocks noGrp="1"/>
          </p:cNvSpPr>
          <p:nvPr>
            <p:ph type="title"/>
          </p:nvPr>
        </p:nvSpPr>
        <p:spPr>
          <a:xfrm>
            <a:off x="529500" y="3093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Roboto"/>
                <a:ea typeface="Roboto"/>
                <a:cs typeface="Roboto"/>
                <a:sym typeface="Roboto"/>
              </a:rPr>
              <a:t>Ejemplo básico</a:t>
            </a: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b="1">
              <a:latin typeface="Roboto"/>
              <a:ea typeface="Roboto"/>
              <a:cs typeface="Roboto"/>
              <a:sym typeface="Roboto"/>
            </a:endParaRPr>
          </a:p>
        </p:txBody>
      </p:sp>
      <p:pic>
        <p:nvPicPr>
          <p:cNvPr id="84" name="Google Shape;84;p17"/>
          <p:cNvPicPr preferRelativeResize="0"/>
          <p:nvPr/>
        </p:nvPicPr>
        <p:blipFill>
          <a:blip r:embed="rId4">
            <a:alphaModFix/>
          </a:blip>
          <a:stretch>
            <a:fillRect/>
          </a:stretch>
        </p:blipFill>
        <p:spPr>
          <a:xfrm>
            <a:off x="462350" y="1017725"/>
            <a:ext cx="5429250" cy="3838575"/>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ctrTitle"/>
          </p:nvPr>
        </p:nvSpPr>
        <p:spPr>
          <a:xfrm>
            <a:off x="311700" y="744575"/>
            <a:ext cx="8520600" cy="1343100"/>
          </a:xfrm>
          <a:prstGeom prst="rect">
            <a:avLst/>
          </a:prstGeom>
        </p:spPr>
        <p:txBody>
          <a:bodyPr spcFirstLastPara="1" wrap="square" lIns="91425" tIns="91425" rIns="91425" bIns="91425" anchor="b" anchorCtr="0">
            <a:normAutofit fontScale="90000"/>
          </a:bodyPr>
          <a:lstStyle/>
          <a:p>
            <a:pPr marL="0" lvl="0" indent="0" algn="l" rtl="0">
              <a:lnSpc>
                <a:spcPct val="125000"/>
              </a:lnSpc>
              <a:spcBef>
                <a:spcPts val="2700"/>
              </a:spcBef>
              <a:spcAft>
                <a:spcPts val="0"/>
              </a:spcAft>
              <a:buNone/>
            </a:pPr>
            <a:r>
              <a:rPr lang="en" sz="2800">
                <a:latin typeface="Roboto"/>
                <a:ea typeface="Roboto"/>
                <a:cs typeface="Roboto"/>
                <a:sym typeface="Roboto"/>
              </a:rPr>
              <a:t>HTML</a:t>
            </a:r>
            <a:endParaRPr sz="2650" b="1">
              <a:solidFill>
                <a:srgbClr val="1D1D1B"/>
              </a:solidFill>
              <a:highlight>
                <a:srgbClr val="FFFFFF"/>
              </a:highlight>
            </a:endParaRPr>
          </a:p>
          <a:p>
            <a:pPr marL="0" lvl="0" indent="0" algn="ctr" rtl="0">
              <a:spcBef>
                <a:spcPts val="2100"/>
              </a:spcBef>
              <a:spcAft>
                <a:spcPts val="0"/>
              </a:spcAft>
              <a:buNone/>
            </a:pPr>
            <a:endParaRPr/>
          </a:p>
        </p:txBody>
      </p:sp>
      <p:sp>
        <p:nvSpPr>
          <p:cNvPr id="90" name="Google Shape;90;p18"/>
          <p:cNvSpPr txBox="1"/>
          <p:nvPr/>
        </p:nvSpPr>
        <p:spPr>
          <a:xfrm>
            <a:off x="443525" y="1285625"/>
            <a:ext cx="6659400" cy="1847100"/>
          </a:xfrm>
          <a:prstGeom prst="rect">
            <a:avLst/>
          </a:prstGeom>
          <a:noFill/>
          <a:ln>
            <a:noFill/>
          </a:ln>
        </p:spPr>
        <p:txBody>
          <a:bodyPr spcFirstLastPara="1" wrap="square" lIns="91425" tIns="91425" rIns="91425" bIns="91425" anchor="t" anchorCtr="0">
            <a:spAutoFit/>
          </a:bodyPr>
          <a:lstStyle/>
          <a:p>
            <a:pPr marL="457200" lvl="0" indent="-342900" algn="l" rtl="0">
              <a:lnSpc>
                <a:spcPct val="125000"/>
              </a:lnSpc>
              <a:spcBef>
                <a:spcPts val="2700"/>
              </a:spcBef>
              <a:spcAft>
                <a:spcPts val="0"/>
              </a:spcAft>
              <a:buClr>
                <a:schemeClr val="dk1"/>
              </a:buClr>
              <a:buSzPts val="1800"/>
              <a:buChar char="●"/>
            </a:pPr>
            <a:r>
              <a:rPr lang="en" sz="1800">
                <a:solidFill>
                  <a:schemeClr val="dk1"/>
                </a:solidFill>
              </a:rPr>
              <a:t>Indica a los navegadores que el documento contiene markup html</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No alcanza con guardar un archivo como .html para que el navegador lo interprete como tal, el tag debe estar</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&lt;/html&gt; cierra todos los documentos</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ctrTitle"/>
          </p:nvPr>
        </p:nvSpPr>
        <p:spPr>
          <a:xfrm>
            <a:off x="311700" y="744575"/>
            <a:ext cx="8520600" cy="1343100"/>
          </a:xfrm>
          <a:prstGeom prst="rect">
            <a:avLst/>
          </a:prstGeom>
        </p:spPr>
        <p:txBody>
          <a:bodyPr spcFirstLastPara="1" wrap="square" lIns="91425" tIns="91425" rIns="91425" bIns="91425" anchor="b" anchorCtr="0">
            <a:normAutofit fontScale="90000"/>
          </a:bodyPr>
          <a:lstStyle/>
          <a:p>
            <a:pPr marL="0" lvl="0" indent="0" algn="l" rtl="0">
              <a:lnSpc>
                <a:spcPct val="125000"/>
              </a:lnSpc>
              <a:spcBef>
                <a:spcPts val="2700"/>
              </a:spcBef>
              <a:spcAft>
                <a:spcPts val="0"/>
              </a:spcAft>
              <a:buNone/>
            </a:pPr>
            <a:r>
              <a:rPr lang="en" sz="2800">
                <a:latin typeface="Roboto"/>
                <a:ea typeface="Roboto"/>
                <a:cs typeface="Roboto"/>
                <a:sym typeface="Roboto"/>
              </a:rPr>
              <a:t>Encabezado</a:t>
            </a:r>
            <a:endParaRPr sz="2650" b="1">
              <a:solidFill>
                <a:srgbClr val="1D1D1B"/>
              </a:solidFill>
              <a:highlight>
                <a:srgbClr val="FFFFFF"/>
              </a:highlight>
            </a:endParaRPr>
          </a:p>
          <a:p>
            <a:pPr marL="0" lvl="0" indent="0" algn="ctr" rtl="0">
              <a:spcBef>
                <a:spcPts val="2100"/>
              </a:spcBef>
              <a:spcAft>
                <a:spcPts val="0"/>
              </a:spcAft>
              <a:buNone/>
            </a:pPr>
            <a:endParaRPr/>
          </a:p>
        </p:txBody>
      </p:sp>
      <p:sp>
        <p:nvSpPr>
          <p:cNvPr id="96" name="Google Shape;96;p19"/>
          <p:cNvSpPr txBox="1"/>
          <p:nvPr/>
        </p:nvSpPr>
        <p:spPr>
          <a:xfrm>
            <a:off x="311700" y="1092025"/>
            <a:ext cx="8351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25000"/>
              </a:lnSpc>
              <a:spcBef>
                <a:spcPts val="2700"/>
              </a:spcBef>
              <a:spcAft>
                <a:spcPts val="0"/>
              </a:spcAft>
              <a:buClr>
                <a:schemeClr val="dk1"/>
              </a:buClr>
              <a:buSzPts val="1800"/>
              <a:buChar char="●"/>
            </a:pPr>
            <a:r>
              <a:rPr lang="en" sz="1800">
                <a:solidFill>
                  <a:schemeClr val="dk1"/>
                </a:solidFill>
              </a:rPr>
              <a:t>&lt;head&gt;</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Contiene dentro del mismo, toda la información para el funcionamiento de la web, además de metadata (información sobre el documento en sí, como por ejemplo el autor, descripción del sitio para previews, etc) </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Contiene el tag &lt;title&gt;</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También puede contener vínculos a hojas de estilo o scripts externos</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Todo lo que está en el header no es visible en el navegador a los usuarios</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ctrTitle"/>
          </p:nvPr>
        </p:nvSpPr>
        <p:spPr>
          <a:xfrm>
            <a:off x="311700" y="744575"/>
            <a:ext cx="8520600" cy="1343100"/>
          </a:xfrm>
          <a:prstGeom prst="rect">
            <a:avLst/>
          </a:prstGeom>
        </p:spPr>
        <p:txBody>
          <a:bodyPr spcFirstLastPara="1" wrap="square" lIns="91425" tIns="91425" rIns="91425" bIns="91425" anchor="b" anchorCtr="0">
            <a:normAutofit fontScale="90000"/>
          </a:bodyPr>
          <a:lstStyle/>
          <a:p>
            <a:pPr marL="0" lvl="0" indent="0" algn="l" rtl="0">
              <a:lnSpc>
                <a:spcPct val="125000"/>
              </a:lnSpc>
              <a:spcBef>
                <a:spcPts val="2700"/>
              </a:spcBef>
              <a:spcAft>
                <a:spcPts val="0"/>
              </a:spcAft>
              <a:buNone/>
            </a:pPr>
            <a:r>
              <a:rPr lang="en" sz="2800">
                <a:latin typeface="Roboto"/>
                <a:ea typeface="Roboto"/>
                <a:cs typeface="Roboto"/>
                <a:sym typeface="Roboto"/>
              </a:rPr>
              <a:t>Cuerpo</a:t>
            </a:r>
            <a:endParaRPr sz="2650" b="1">
              <a:solidFill>
                <a:srgbClr val="1D1D1B"/>
              </a:solidFill>
              <a:highlight>
                <a:srgbClr val="FFFFFF"/>
              </a:highlight>
            </a:endParaRPr>
          </a:p>
          <a:p>
            <a:pPr marL="0" lvl="0" indent="0" algn="ctr" rtl="0">
              <a:spcBef>
                <a:spcPts val="2100"/>
              </a:spcBef>
              <a:spcAft>
                <a:spcPts val="0"/>
              </a:spcAft>
              <a:buNone/>
            </a:pPr>
            <a:endParaRPr/>
          </a:p>
        </p:txBody>
      </p:sp>
      <p:sp>
        <p:nvSpPr>
          <p:cNvPr id="102" name="Google Shape;102;p20"/>
          <p:cNvSpPr txBox="1"/>
          <p:nvPr/>
        </p:nvSpPr>
        <p:spPr>
          <a:xfrm>
            <a:off x="434450" y="1167700"/>
            <a:ext cx="7437900" cy="1500600"/>
          </a:xfrm>
          <a:prstGeom prst="rect">
            <a:avLst/>
          </a:prstGeom>
          <a:noFill/>
          <a:ln>
            <a:noFill/>
          </a:ln>
        </p:spPr>
        <p:txBody>
          <a:bodyPr spcFirstLastPara="1" wrap="square" lIns="91425" tIns="91425" rIns="91425" bIns="91425" anchor="t" anchorCtr="0">
            <a:spAutoFit/>
          </a:bodyPr>
          <a:lstStyle/>
          <a:p>
            <a:pPr marL="457200" lvl="0" indent="-342900" algn="l" rtl="0">
              <a:lnSpc>
                <a:spcPct val="125000"/>
              </a:lnSpc>
              <a:spcBef>
                <a:spcPts val="2700"/>
              </a:spcBef>
              <a:spcAft>
                <a:spcPts val="0"/>
              </a:spcAft>
              <a:buClr>
                <a:schemeClr val="dk1"/>
              </a:buClr>
              <a:buSzPts val="1800"/>
              <a:buChar char="●"/>
            </a:pPr>
            <a:r>
              <a:rPr lang="en" sz="1800">
                <a:solidFill>
                  <a:schemeClr val="dk1"/>
                </a:solidFill>
              </a:rPr>
              <a:t>&lt;body&gt;</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Etiqueta que contiene todos los elementos visibles del sitio.</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Texto, imagenes, videos, etc.</a:t>
            </a:r>
            <a:endParaRPr sz="1800">
              <a:solidFill>
                <a:schemeClr val="dk1"/>
              </a:solidFill>
            </a:endParaRPr>
          </a:p>
          <a:p>
            <a:pPr marL="457200" lvl="0" indent="-342900" algn="l" rtl="0">
              <a:lnSpc>
                <a:spcPct val="125000"/>
              </a:lnSpc>
              <a:spcBef>
                <a:spcPts val="0"/>
              </a:spcBef>
              <a:spcAft>
                <a:spcPts val="0"/>
              </a:spcAft>
              <a:buClr>
                <a:schemeClr val="dk1"/>
              </a:buClr>
              <a:buSzPts val="1800"/>
              <a:buChar char="●"/>
            </a:pPr>
            <a:r>
              <a:rPr lang="en" sz="1800">
                <a:solidFill>
                  <a:schemeClr val="dk1"/>
                </a:solidFill>
              </a:rPr>
              <a:t>Puede también tener definición de estilos, scripts, etc.</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108" name="Google Shape;108;p21"/>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1200"/>
              </a:spcAft>
              <a:buNone/>
            </a:pPr>
            <a:endParaRPr sz="1230" b="1">
              <a:solidFill>
                <a:srgbClr val="052E65"/>
              </a:solidFill>
              <a:latin typeface="Roboto"/>
              <a:ea typeface="Roboto"/>
              <a:cs typeface="Roboto"/>
              <a:sym typeface="Roboto"/>
            </a:endParaRPr>
          </a:p>
        </p:txBody>
      </p:sp>
      <p:pic>
        <p:nvPicPr>
          <p:cNvPr id="109" name="Google Shape;109;p21"/>
          <p:cNvPicPr preferRelativeResize="0"/>
          <p:nvPr/>
        </p:nvPicPr>
        <p:blipFill>
          <a:blip r:embed="rId4">
            <a:alphaModFix/>
          </a:blip>
          <a:stretch>
            <a:fillRect/>
          </a:stretch>
        </p:blipFill>
        <p:spPr>
          <a:xfrm>
            <a:off x="1671638" y="1700213"/>
            <a:ext cx="5800725" cy="1743075"/>
          </a:xfrm>
          <a:prstGeom prst="rect">
            <a:avLst/>
          </a:prstGeom>
          <a:noFill/>
          <a:ln w="19050" cap="flat" cmpd="sng">
            <a:solidFill>
              <a:schemeClr val="dk2"/>
            </a:solidFill>
            <a:prstDash val="solid"/>
            <a:round/>
            <a:headEnd type="none" w="sm" len="sm"/>
            <a:tailEnd type="none" w="sm" len="sm"/>
          </a:ln>
        </p:spPr>
      </p:pic>
      <p:sp>
        <p:nvSpPr>
          <p:cNvPr id="110" name="Google Shape;110;p21"/>
          <p:cNvSpPr txBox="1">
            <a:spLocks noGrp="1"/>
          </p:cNvSpPr>
          <p:nvPr>
            <p:ph type="title"/>
          </p:nvPr>
        </p:nvSpPr>
        <p:spPr>
          <a:xfrm>
            <a:off x="623400" y="276425"/>
            <a:ext cx="8520600" cy="2007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latin typeface="Roboto"/>
                <a:ea typeface="Roboto"/>
                <a:cs typeface="Roboto"/>
                <a:sym typeface="Roboto"/>
              </a:rPr>
              <a:t>Elementos </a:t>
            </a:r>
            <a:r>
              <a:rPr lang="en" sz="1750">
                <a:latin typeface="Roboto"/>
                <a:ea typeface="Roboto"/>
                <a:cs typeface="Roboto"/>
                <a:sym typeface="Roboto"/>
              </a:rPr>
              <a:t>(</a:t>
            </a:r>
            <a:r>
              <a:rPr lang="en" sz="1750" u="sng">
                <a:solidFill>
                  <a:schemeClr val="accent5"/>
                </a:solidFill>
                <a:latin typeface="Roboto"/>
                <a:ea typeface="Roboto"/>
                <a:cs typeface="Roboto"/>
                <a:sym typeface="Roboto"/>
                <a:hlinkClick r:id="rId5">
                  <a:extLst>
                    <a:ext uri="{A12FA001-AC4F-418D-AE19-62706E023703}">
                      <ahyp:hlinkClr xmlns:ahyp="http://schemas.microsoft.com/office/drawing/2018/hyperlinkcolor" val="tx"/>
                    </a:ext>
                  </a:extLst>
                </a:hlinkClick>
              </a:rPr>
              <a:t>https://developer.mozilla.org/en-US/docs/Web/HTML/Element</a:t>
            </a:r>
            <a:r>
              <a:rPr lang="en" sz="1750">
                <a:latin typeface="Roboto"/>
                <a:ea typeface="Roboto"/>
                <a:cs typeface="Roboto"/>
                <a:sym typeface="Roboto"/>
              </a:rPr>
              <a:t>)</a:t>
            </a:r>
            <a:endParaRPr sz="2022">
              <a:latin typeface="Roboto"/>
              <a:ea typeface="Roboto"/>
              <a:cs typeface="Roboto"/>
              <a:sym typeface="Roboto"/>
            </a:endParaRPr>
          </a:p>
          <a:p>
            <a:pPr marL="457200" lvl="0" indent="0" algn="l" rtl="0">
              <a:spcBef>
                <a:spcPts val="0"/>
              </a:spcBef>
              <a:spcAft>
                <a:spcPts val="0"/>
              </a:spcAft>
              <a:buNone/>
            </a:pPr>
            <a:endParaRPr b="1">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116" name="Google Shape;116;p22"/>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120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p:txBody>
      </p:sp>
      <p:sp>
        <p:nvSpPr>
          <p:cNvPr id="117" name="Google Shape;117;p22"/>
          <p:cNvSpPr txBox="1"/>
          <p:nvPr/>
        </p:nvSpPr>
        <p:spPr>
          <a:xfrm>
            <a:off x="480800" y="1197450"/>
            <a:ext cx="7901100" cy="2702100"/>
          </a:xfrm>
          <a:prstGeom prst="rect">
            <a:avLst/>
          </a:prstGeom>
          <a:noFill/>
          <a:ln>
            <a:noFill/>
          </a:ln>
        </p:spPr>
        <p:txBody>
          <a:bodyPr spcFirstLastPara="1" wrap="square" lIns="91425" tIns="91425" rIns="91425" bIns="91425" anchor="t" anchorCtr="0">
            <a:spAutoFit/>
          </a:bodyPr>
          <a:lstStyle/>
          <a:p>
            <a:pPr marL="457200" lvl="0" indent="-358421" algn="l" rtl="0">
              <a:spcBef>
                <a:spcPts val="0"/>
              </a:spcBef>
              <a:spcAft>
                <a:spcPts val="0"/>
              </a:spcAft>
              <a:buClr>
                <a:schemeClr val="dk1"/>
              </a:buClr>
              <a:buSzPts val="2044"/>
              <a:buFont typeface="Roboto"/>
              <a:buChar char="●"/>
            </a:pPr>
            <a:r>
              <a:rPr lang="en" sz="2044">
                <a:solidFill>
                  <a:schemeClr val="dk1"/>
                </a:solidFill>
                <a:latin typeface="Roboto"/>
                <a:ea typeface="Roboto"/>
                <a:cs typeface="Roboto"/>
                <a:sym typeface="Roboto"/>
              </a:rPr>
              <a:t>Las etiquetas (tags) son utilizadas para crear elementos en HTML.</a:t>
            </a:r>
            <a:endParaRPr sz="2044">
              <a:solidFill>
                <a:schemeClr val="dk1"/>
              </a:solidFill>
              <a:latin typeface="Roboto"/>
              <a:ea typeface="Roboto"/>
              <a:cs typeface="Roboto"/>
              <a:sym typeface="Roboto"/>
            </a:endParaRPr>
          </a:p>
          <a:p>
            <a:pPr marL="457200" lvl="0" indent="0" algn="l" rtl="0">
              <a:spcBef>
                <a:spcPts val="0"/>
              </a:spcBef>
              <a:spcAft>
                <a:spcPts val="0"/>
              </a:spcAft>
              <a:buNone/>
            </a:pPr>
            <a:endParaRPr sz="2044">
              <a:solidFill>
                <a:schemeClr val="dk1"/>
              </a:solidFill>
              <a:latin typeface="Roboto"/>
              <a:ea typeface="Roboto"/>
              <a:cs typeface="Roboto"/>
              <a:sym typeface="Roboto"/>
            </a:endParaRPr>
          </a:p>
          <a:p>
            <a:pPr marL="457200" lvl="0" indent="-358421" algn="l" rtl="0">
              <a:spcBef>
                <a:spcPts val="0"/>
              </a:spcBef>
              <a:spcAft>
                <a:spcPts val="0"/>
              </a:spcAft>
              <a:buClr>
                <a:schemeClr val="dk1"/>
              </a:buClr>
              <a:buSzPts val="2044"/>
              <a:buFont typeface="Roboto"/>
              <a:buChar char="●"/>
            </a:pPr>
            <a:r>
              <a:rPr lang="en" sz="2044">
                <a:solidFill>
                  <a:schemeClr val="dk1"/>
                </a:solidFill>
                <a:latin typeface="Roboto"/>
                <a:ea typeface="Roboto"/>
                <a:cs typeface="Roboto"/>
                <a:sym typeface="Roboto"/>
              </a:rPr>
              <a:t>Los atributos se encuentran “dentro” de las etiquetas.</a:t>
            </a:r>
            <a:endParaRPr sz="2044">
              <a:solidFill>
                <a:schemeClr val="dk1"/>
              </a:solidFill>
              <a:latin typeface="Roboto"/>
              <a:ea typeface="Roboto"/>
              <a:cs typeface="Roboto"/>
              <a:sym typeface="Roboto"/>
            </a:endParaRPr>
          </a:p>
          <a:p>
            <a:pPr marL="457200" lvl="0" indent="0" algn="l" rtl="0">
              <a:spcBef>
                <a:spcPts val="0"/>
              </a:spcBef>
              <a:spcAft>
                <a:spcPts val="0"/>
              </a:spcAft>
              <a:buNone/>
            </a:pPr>
            <a:endParaRPr sz="2044">
              <a:solidFill>
                <a:schemeClr val="dk1"/>
              </a:solidFill>
              <a:latin typeface="Roboto"/>
              <a:ea typeface="Roboto"/>
              <a:cs typeface="Roboto"/>
              <a:sym typeface="Roboto"/>
            </a:endParaRPr>
          </a:p>
          <a:p>
            <a:pPr marL="457200" lvl="0" indent="-358421" algn="l" rtl="0">
              <a:spcBef>
                <a:spcPts val="0"/>
              </a:spcBef>
              <a:spcAft>
                <a:spcPts val="0"/>
              </a:spcAft>
              <a:buClr>
                <a:schemeClr val="dk1"/>
              </a:buClr>
              <a:buSzPts val="2044"/>
              <a:buFont typeface="Roboto"/>
              <a:buChar char="●"/>
            </a:pPr>
            <a:r>
              <a:rPr lang="en" sz="2044">
                <a:solidFill>
                  <a:schemeClr val="dk1"/>
                </a:solidFill>
                <a:latin typeface="Roboto"/>
                <a:ea typeface="Roboto"/>
                <a:cs typeface="Roboto"/>
                <a:sym typeface="Roboto"/>
              </a:rPr>
              <a:t>Los atributos tienen la sintaxis nombreAtributo=”valorAtributo”</a:t>
            </a:r>
            <a:endParaRPr sz="2044">
              <a:solidFill>
                <a:schemeClr val="dk1"/>
              </a:solidFill>
              <a:latin typeface="Roboto"/>
              <a:ea typeface="Roboto"/>
              <a:cs typeface="Roboto"/>
              <a:sym typeface="Roboto"/>
            </a:endParaRPr>
          </a:p>
          <a:p>
            <a:pPr marL="457200" lvl="0" indent="0" algn="l" rtl="0">
              <a:spcBef>
                <a:spcPts val="0"/>
              </a:spcBef>
              <a:spcAft>
                <a:spcPts val="0"/>
              </a:spcAft>
              <a:buNone/>
            </a:pPr>
            <a:endParaRPr sz="2044">
              <a:solidFill>
                <a:schemeClr val="dk1"/>
              </a:solidFill>
              <a:latin typeface="Roboto"/>
              <a:ea typeface="Roboto"/>
              <a:cs typeface="Roboto"/>
              <a:sym typeface="Roboto"/>
            </a:endParaRPr>
          </a:p>
          <a:p>
            <a:pPr marL="457200" lvl="0" indent="-358421" algn="l" rtl="0">
              <a:spcBef>
                <a:spcPts val="0"/>
              </a:spcBef>
              <a:spcAft>
                <a:spcPts val="0"/>
              </a:spcAft>
              <a:buClr>
                <a:schemeClr val="dk1"/>
              </a:buClr>
              <a:buSzPts val="2044"/>
              <a:buFont typeface="Roboto"/>
              <a:buChar char="●"/>
            </a:pPr>
            <a:r>
              <a:rPr lang="en" sz="2044">
                <a:solidFill>
                  <a:schemeClr val="dk1"/>
                </a:solidFill>
                <a:latin typeface="Roboto"/>
                <a:ea typeface="Roboto"/>
                <a:cs typeface="Roboto"/>
                <a:sym typeface="Roboto"/>
              </a:rPr>
              <a:t>No todos los atributos son válidos para todas las etiquetas</a:t>
            </a:r>
            <a:endParaRPr sz="2044">
              <a:solidFill>
                <a:schemeClr val="dk1"/>
              </a:solidFill>
              <a:latin typeface="Roboto"/>
              <a:ea typeface="Roboto"/>
              <a:cs typeface="Roboto"/>
              <a:sym typeface="Roboto"/>
            </a:endParaRPr>
          </a:p>
        </p:txBody>
      </p:sp>
      <p:sp>
        <p:nvSpPr>
          <p:cNvPr id="118" name="Google Shape;118;p22"/>
          <p:cNvSpPr txBox="1"/>
          <p:nvPr/>
        </p:nvSpPr>
        <p:spPr>
          <a:xfrm>
            <a:off x="480800" y="445025"/>
            <a:ext cx="4363500" cy="615600"/>
          </a:xfrm>
          <a:prstGeom prst="rect">
            <a:avLst/>
          </a:prstGeom>
          <a:noFill/>
          <a:ln>
            <a:noFill/>
          </a:ln>
        </p:spPr>
        <p:txBody>
          <a:bodyPr spcFirstLastPara="1" wrap="square" lIns="91425" tIns="91425" rIns="91425" bIns="91425" anchor="t" anchorCtr="0">
            <a:spAutoFit/>
          </a:bodyPr>
          <a:lstStyle/>
          <a:p>
            <a:pPr marL="0" lvl="0" indent="0" algn="l" rtl="0">
              <a:lnSpc>
                <a:spcPct val="125000"/>
              </a:lnSpc>
              <a:spcBef>
                <a:spcPts val="2700"/>
              </a:spcBef>
              <a:spcAft>
                <a:spcPts val="2100"/>
              </a:spcAft>
              <a:buNone/>
            </a:pPr>
            <a:r>
              <a:rPr lang="en" sz="2800">
                <a:solidFill>
                  <a:schemeClr val="dk1"/>
                </a:solidFill>
                <a:latin typeface="Roboto"/>
                <a:ea typeface="Roboto"/>
                <a:cs typeface="Roboto"/>
                <a:sym typeface="Roboto"/>
              </a:rPr>
              <a:t>Etiquetas y atributos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124" name="Google Shape;124;p23"/>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1200"/>
              </a:spcAft>
              <a:buNone/>
            </a:pPr>
            <a:endParaRPr sz="1230" b="1">
              <a:solidFill>
                <a:srgbClr val="052E65"/>
              </a:solidFill>
              <a:latin typeface="Roboto"/>
              <a:ea typeface="Roboto"/>
              <a:cs typeface="Roboto"/>
              <a:sym typeface="Roboto"/>
            </a:endParaRPr>
          </a:p>
        </p:txBody>
      </p:sp>
      <p:sp>
        <p:nvSpPr>
          <p:cNvPr id="125" name="Google Shape;125;p23"/>
          <p:cNvSpPr txBox="1">
            <a:spLocks noGrp="1"/>
          </p:cNvSpPr>
          <p:nvPr>
            <p:ph type="title"/>
          </p:nvPr>
        </p:nvSpPr>
        <p:spPr>
          <a:xfrm>
            <a:off x="529500" y="3093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Roboto"/>
                <a:ea typeface="Roboto"/>
                <a:cs typeface="Roboto"/>
                <a:sym typeface="Roboto"/>
              </a:rPr>
              <a:t>Sistema de etiquetas</a:t>
            </a: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b="1">
              <a:latin typeface="Roboto"/>
              <a:ea typeface="Roboto"/>
              <a:cs typeface="Roboto"/>
              <a:sym typeface="Roboto"/>
            </a:endParaRPr>
          </a:p>
        </p:txBody>
      </p:sp>
      <p:sp>
        <p:nvSpPr>
          <p:cNvPr id="126" name="Google Shape;126;p23"/>
          <p:cNvSpPr txBox="1">
            <a:spLocks noGrp="1"/>
          </p:cNvSpPr>
          <p:nvPr>
            <p:ph type="title"/>
          </p:nvPr>
        </p:nvSpPr>
        <p:spPr>
          <a:xfrm>
            <a:off x="529500" y="966350"/>
            <a:ext cx="7090500" cy="3726900"/>
          </a:xfrm>
          <a:prstGeom prst="rect">
            <a:avLst/>
          </a:prstGeom>
        </p:spPr>
        <p:txBody>
          <a:bodyPr spcFirstLastPara="1" wrap="square" lIns="91425" tIns="91425" rIns="91425" bIns="91425" anchor="t" anchorCtr="0">
            <a:normAutofit fontScale="90000"/>
          </a:bodyPr>
          <a:lstStyle/>
          <a:p>
            <a:pPr marL="457200" lvl="0" indent="-331470" algn="l" rtl="0">
              <a:spcBef>
                <a:spcPts val="0"/>
              </a:spcBef>
              <a:spcAft>
                <a:spcPts val="0"/>
              </a:spcAft>
              <a:buSzPct val="100000"/>
              <a:buFont typeface="Roboto"/>
              <a:buChar char="●"/>
            </a:pPr>
            <a:r>
              <a:rPr lang="en" sz="1800">
                <a:latin typeface="Roboto"/>
                <a:ea typeface="Roboto"/>
                <a:cs typeface="Roboto"/>
                <a:sym typeface="Roboto"/>
              </a:rPr>
              <a:t>Textos </a:t>
            </a:r>
            <a:endParaRPr sz="1800">
              <a:latin typeface="Roboto"/>
              <a:ea typeface="Roboto"/>
              <a:cs typeface="Roboto"/>
              <a:sym typeface="Roboto"/>
            </a:endParaRPr>
          </a:p>
          <a:p>
            <a:pPr marL="914400" lvl="1" indent="-331469" algn="l" rtl="0">
              <a:spcBef>
                <a:spcPts val="0"/>
              </a:spcBef>
              <a:spcAft>
                <a:spcPts val="0"/>
              </a:spcAft>
              <a:buSzPct val="100000"/>
              <a:buFont typeface="Roboto"/>
              <a:buChar char="○"/>
            </a:pPr>
            <a:r>
              <a:rPr lang="en" sz="1800">
                <a:latin typeface="Roboto"/>
                <a:ea typeface="Roboto"/>
                <a:cs typeface="Roboto"/>
                <a:sym typeface="Roboto"/>
              </a:rPr>
              <a:t>p: parrafos</a:t>
            </a:r>
            <a:endParaRPr sz="1800">
              <a:latin typeface="Roboto"/>
              <a:ea typeface="Roboto"/>
              <a:cs typeface="Roboto"/>
              <a:sym typeface="Roboto"/>
            </a:endParaRPr>
          </a:p>
          <a:p>
            <a:pPr marL="914400" lvl="1" indent="-331469" algn="l" rtl="0">
              <a:spcBef>
                <a:spcPts val="0"/>
              </a:spcBef>
              <a:spcAft>
                <a:spcPts val="0"/>
              </a:spcAft>
              <a:buSzPct val="100000"/>
              <a:buFont typeface="Roboto"/>
              <a:buChar char="○"/>
            </a:pPr>
            <a:r>
              <a:rPr lang="en" sz="1800">
                <a:latin typeface="Roboto"/>
                <a:ea typeface="Roboto"/>
                <a:cs typeface="Roboto"/>
                <a:sym typeface="Roboto"/>
              </a:rPr>
              <a:t>h1-h6: titulos</a:t>
            </a:r>
            <a:endParaRPr sz="1800">
              <a:latin typeface="Roboto"/>
              <a:ea typeface="Roboto"/>
              <a:cs typeface="Roboto"/>
              <a:sym typeface="Roboto"/>
            </a:endParaRPr>
          </a:p>
          <a:p>
            <a:pPr marL="914400" lvl="1" indent="-331469" algn="l" rtl="0">
              <a:spcBef>
                <a:spcPts val="0"/>
              </a:spcBef>
              <a:spcAft>
                <a:spcPts val="0"/>
              </a:spcAft>
              <a:buSzPct val="100000"/>
              <a:buFont typeface="Roboto"/>
              <a:buChar char="○"/>
            </a:pPr>
            <a:r>
              <a:rPr lang="en" sz="1800">
                <a:latin typeface="Roboto"/>
                <a:ea typeface="Roboto"/>
                <a:cs typeface="Roboto"/>
                <a:sym typeface="Roboto"/>
              </a:rPr>
              <a:t>span</a:t>
            </a:r>
            <a:endParaRPr sz="1800">
              <a:latin typeface="Roboto"/>
              <a:ea typeface="Roboto"/>
              <a:cs typeface="Roboto"/>
              <a:sym typeface="Roboto"/>
            </a:endParaRPr>
          </a:p>
          <a:p>
            <a:pPr marL="914400" lvl="1" indent="-331469" algn="l" rtl="0">
              <a:spcBef>
                <a:spcPts val="0"/>
              </a:spcBef>
              <a:spcAft>
                <a:spcPts val="0"/>
              </a:spcAft>
              <a:buSzPct val="100000"/>
              <a:buFont typeface="Roboto"/>
              <a:buChar char="○"/>
            </a:pPr>
            <a:r>
              <a:rPr lang="en" sz="1800">
                <a:latin typeface="Roboto"/>
                <a:ea typeface="Roboto"/>
                <a:cs typeface="Roboto"/>
                <a:sym typeface="Roboto"/>
              </a:rPr>
              <a:t>a links</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Imagenes (img)</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Botones (button)</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Contenedores (div)</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Grillas (table)</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Listas (ul, ol, li)</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Formularios (form)</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Inputs (texto plano, passwords, email, checkbox, radio, etc.)</a:t>
            </a:r>
            <a:endParaRPr sz="1800">
              <a:latin typeface="Roboto"/>
              <a:ea typeface="Roboto"/>
              <a:cs typeface="Roboto"/>
              <a:sym typeface="Roboto"/>
            </a:endParaRPr>
          </a:p>
          <a:p>
            <a:pPr marL="457200" lvl="0" indent="-331470" algn="l" rtl="0">
              <a:spcBef>
                <a:spcPts val="0"/>
              </a:spcBef>
              <a:spcAft>
                <a:spcPts val="0"/>
              </a:spcAft>
              <a:buSzPct val="100000"/>
              <a:buFont typeface="Roboto"/>
              <a:buChar char="●"/>
            </a:pPr>
            <a:r>
              <a:rPr lang="en" sz="1800">
                <a:latin typeface="Roboto"/>
                <a:ea typeface="Roboto"/>
                <a:cs typeface="Roboto"/>
                <a:sym typeface="Roboto"/>
              </a:rPr>
              <a:t>etc.</a:t>
            </a:r>
            <a:endParaRPr sz="18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4"/>
          <p:cNvPicPr preferRelativeResize="0"/>
          <p:nvPr/>
        </p:nvPicPr>
        <p:blipFill>
          <a:blip r:embed="rId3">
            <a:alphaModFix/>
          </a:blip>
          <a:stretch>
            <a:fillRect/>
          </a:stretch>
        </p:blipFill>
        <p:spPr>
          <a:xfrm>
            <a:off x="8248015" y="4693225"/>
            <a:ext cx="692787" cy="334201"/>
          </a:xfrm>
          <a:prstGeom prst="rect">
            <a:avLst/>
          </a:prstGeom>
          <a:noFill/>
          <a:ln>
            <a:noFill/>
          </a:ln>
        </p:spPr>
      </p:pic>
      <p:sp>
        <p:nvSpPr>
          <p:cNvPr id="132" name="Google Shape;132;p24"/>
          <p:cNvSpPr txBox="1"/>
          <p:nvPr/>
        </p:nvSpPr>
        <p:spPr>
          <a:xfrm>
            <a:off x="8084200" y="110825"/>
            <a:ext cx="856500" cy="3342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0" bIns="91425" anchor="t" anchorCtr="0">
            <a:noAutofit/>
          </a:bodyPr>
          <a:lstStyle/>
          <a:p>
            <a:pPr marL="0" lvl="0" indent="0" algn="r" rtl="0">
              <a:lnSpc>
                <a:spcPct val="115000"/>
              </a:lnSpc>
              <a:spcBef>
                <a:spcPts val="0"/>
              </a:spcBef>
              <a:spcAft>
                <a:spcPts val="0"/>
              </a:spcAft>
              <a:buNone/>
            </a:pPr>
            <a:r>
              <a:rPr lang="en" sz="1230" b="1">
                <a:solidFill>
                  <a:srgbClr val="052E65"/>
                </a:solidFill>
                <a:latin typeface="Roboto"/>
                <a:ea typeface="Roboto"/>
                <a:cs typeface="Roboto"/>
                <a:sym typeface="Roboto"/>
              </a:rPr>
              <a:t>2024</a:t>
            </a:r>
            <a:endParaRPr sz="1230" b="1">
              <a:solidFill>
                <a:srgbClr val="052E65"/>
              </a:solidFill>
              <a:latin typeface="Roboto"/>
              <a:ea typeface="Roboto"/>
              <a:cs typeface="Roboto"/>
              <a:sym typeface="Roboto"/>
            </a:endParaRPr>
          </a:p>
          <a:p>
            <a:pPr marL="0" lvl="0" indent="0" algn="r" rtl="0">
              <a:lnSpc>
                <a:spcPct val="115000"/>
              </a:lnSpc>
              <a:spcBef>
                <a:spcPts val="1200"/>
              </a:spcBef>
              <a:spcAft>
                <a:spcPts val="1200"/>
              </a:spcAft>
              <a:buNone/>
            </a:pPr>
            <a:endParaRPr sz="1230" b="1">
              <a:solidFill>
                <a:srgbClr val="052E65"/>
              </a:solidFill>
              <a:latin typeface="Roboto"/>
              <a:ea typeface="Roboto"/>
              <a:cs typeface="Roboto"/>
              <a:sym typeface="Roboto"/>
            </a:endParaRPr>
          </a:p>
        </p:txBody>
      </p:sp>
      <p:sp>
        <p:nvSpPr>
          <p:cNvPr id="133" name="Google Shape;133;p24"/>
          <p:cNvSpPr txBox="1">
            <a:spLocks noGrp="1"/>
          </p:cNvSpPr>
          <p:nvPr>
            <p:ph type="title"/>
          </p:nvPr>
        </p:nvSpPr>
        <p:spPr>
          <a:xfrm>
            <a:off x="529500" y="3093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Roboto"/>
                <a:ea typeface="Roboto"/>
                <a:cs typeface="Roboto"/>
                <a:sym typeface="Roboto"/>
              </a:rPr>
              <a:t>Atributos relevantes</a:t>
            </a:r>
            <a:endParaRPr>
              <a:latin typeface="Roboto"/>
              <a:ea typeface="Roboto"/>
              <a:cs typeface="Roboto"/>
              <a:sym typeface="Roboto"/>
            </a:endParaRPr>
          </a:p>
          <a:p>
            <a:pPr marL="0" lvl="0" indent="0" algn="l" rtl="0">
              <a:spcBef>
                <a:spcPts val="0"/>
              </a:spcBef>
              <a:spcAft>
                <a:spcPts val="0"/>
              </a:spcAft>
              <a:buNone/>
            </a:pPr>
            <a:endParaRPr>
              <a:latin typeface="Roboto"/>
              <a:ea typeface="Roboto"/>
              <a:cs typeface="Roboto"/>
              <a:sym typeface="Roboto"/>
            </a:endParaRPr>
          </a:p>
          <a:p>
            <a:pPr marL="0" lvl="0" indent="0" algn="l" rtl="0">
              <a:spcBef>
                <a:spcPts val="0"/>
              </a:spcBef>
              <a:spcAft>
                <a:spcPts val="0"/>
              </a:spcAft>
              <a:buNone/>
            </a:pPr>
            <a:endParaRPr b="1">
              <a:latin typeface="Roboto"/>
              <a:ea typeface="Roboto"/>
              <a:cs typeface="Roboto"/>
              <a:sym typeface="Roboto"/>
            </a:endParaRPr>
          </a:p>
        </p:txBody>
      </p:sp>
      <p:sp>
        <p:nvSpPr>
          <p:cNvPr id="134" name="Google Shape;134;p24"/>
          <p:cNvSpPr txBox="1">
            <a:spLocks noGrp="1"/>
          </p:cNvSpPr>
          <p:nvPr>
            <p:ph type="title"/>
          </p:nvPr>
        </p:nvSpPr>
        <p:spPr>
          <a:xfrm>
            <a:off x="529500" y="1247575"/>
            <a:ext cx="7554600" cy="3338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Font typeface="Roboto"/>
              <a:buChar char="●"/>
            </a:pPr>
            <a:r>
              <a:rPr lang="en" sz="1800">
                <a:latin typeface="Roboto"/>
                <a:ea typeface="Roboto"/>
                <a:cs typeface="Roboto"/>
                <a:sym typeface="Roboto"/>
              </a:rPr>
              <a:t>Id (para referenciar de manera unívoca un elemento)</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class (para aplicarle una clase css a un elemento)</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style (para aplicarle un estilo css a un elemento)</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alt (para cuando las imágenes no se puede ver, tener al menos una descripción)</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src (para establecer el origen de un script, una imagen, etc.)</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href (para links, nos permite establecer que página abrir)</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onclick (nos permite especificar qué hacer cuando se hace click sobre el elemento) </a:t>
            </a:r>
            <a:endParaRPr sz="1800">
              <a:latin typeface="Roboto"/>
              <a:ea typeface="Roboto"/>
              <a:cs typeface="Roboto"/>
              <a:sym typeface="Roboto"/>
            </a:endParaRPr>
          </a:p>
          <a:p>
            <a:pPr marL="457200" lvl="0" indent="-342900" algn="l" rtl="0">
              <a:spcBef>
                <a:spcPts val="0"/>
              </a:spcBef>
              <a:spcAft>
                <a:spcPts val="0"/>
              </a:spcAft>
              <a:buSzPts val="1800"/>
              <a:buFont typeface="Roboto"/>
              <a:buChar char="●"/>
            </a:pPr>
            <a:r>
              <a:rPr lang="en" sz="1800">
                <a:latin typeface="Roboto"/>
                <a:ea typeface="Roboto"/>
                <a:cs typeface="Roboto"/>
                <a:sym typeface="Roboto"/>
              </a:rPr>
              <a:t>etc</a:t>
            </a:r>
            <a:endParaRPr sz="18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6CB54A035681944AA17A527E670D8A62" ma:contentTypeVersion="4" ma:contentTypeDescription="Crear nuevo documento." ma:contentTypeScope="" ma:versionID="3808a3d3b512b621177b620b79d82306">
  <xsd:schema xmlns:xsd="http://www.w3.org/2001/XMLSchema" xmlns:xs="http://www.w3.org/2001/XMLSchema" xmlns:p="http://schemas.microsoft.com/office/2006/metadata/properties" xmlns:ns2="2e6ea548-7184-4e8c-b874-4ce2c867b791" targetNamespace="http://schemas.microsoft.com/office/2006/metadata/properties" ma:root="true" ma:fieldsID="435a981d110d2da1772da2283375b817" ns2:_="">
    <xsd:import namespace="2e6ea548-7184-4e8c-b874-4ce2c867b7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6ea548-7184-4e8c-b874-4ce2c867b7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49502E-2A1C-4AF9-950F-257057A9F595}">
  <ds:schemaRefs>
    <ds:schemaRef ds:uri="http://schemas.microsoft.com/sharepoint/v3/contenttype/forms"/>
  </ds:schemaRefs>
</ds:datastoreItem>
</file>

<file path=customXml/itemProps2.xml><?xml version="1.0" encoding="utf-8"?>
<ds:datastoreItem xmlns:ds="http://schemas.openxmlformats.org/officeDocument/2006/customXml" ds:itemID="{67E4B376-2172-4499-B437-0877179FF77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FE3F0EB-8BD9-4578-976D-EBC83DF587FE}">
  <ds:schemaRefs>
    <ds:schemaRef ds:uri="2e6ea548-7184-4e8c-b874-4ce2c867b79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Simple Light</vt:lpstr>
      <vt:lpstr>Programación Web y Mobile</vt:lpstr>
      <vt:lpstr>HTML, CSS, JS</vt:lpstr>
      <vt:lpstr>HTML  Hyper Text Markup Language o Lenguaje Marcado de Hipertexto  Define la estructura de una página web, de forma jerárquica y le da significado  Se utiliza un lenguaje de maquetado (“markup”) para describir la estructura  Para esto, se utilizan “tags”, que empiezan con “&lt;”, terminan con “&gt;”, y en el medio encontramos el nombre del tag junto con sus atributos  HTML no distingue mayúsculas de minúsculas, pero las buenas prácticas es utilizar minúsculas  ¡No es un lenguaje de programación!     </vt:lpstr>
      <vt:lpstr>Estructura básica HTML </vt:lpstr>
      <vt:lpstr>Ejemplo básico  </vt:lpstr>
      <vt:lpstr>HTML </vt:lpstr>
      <vt:lpstr>Encabezado </vt:lpstr>
      <vt:lpstr>Cuerpo </vt:lpstr>
      <vt:lpstr>Elementos (https://developer.mozilla.org/en-US/docs/Web/HTML/Element) </vt:lpstr>
      <vt:lpstr>PowerPoint Presentation</vt:lpstr>
      <vt:lpstr>Sistema de etiquetas  </vt:lpstr>
      <vt:lpstr>Atributos relevantes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Web y Mobile</dc:title>
  <cp:revision>1</cp:revision>
  <dcterms:modified xsi:type="dcterms:W3CDTF">2024-08-05T00:28:04Z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0x0101006CB54A035681944AA17A527E670D8A62</vt:lpwstr>
  </property>
</Properties>
</file>